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3" r:id="rId2"/>
    <p:sldId id="264" r:id="rId3"/>
    <p:sldId id="269" r:id="rId4"/>
    <p:sldId id="265" r:id="rId5"/>
    <p:sldId id="267" r:id="rId6"/>
    <p:sldId id="266" r:id="rId7"/>
    <p:sldId id="272" r:id="rId8"/>
    <p:sldId id="273" r:id="rId9"/>
    <p:sldId id="274" r:id="rId10"/>
    <p:sldId id="275" r:id="rId11"/>
    <p:sldId id="276" r:id="rId12"/>
    <p:sldId id="270" r:id="rId13"/>
    <p:sldId id="271" r:id="rId14"/>
    <p:sldId id="27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C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0710F538-1827-4CB2-A88A-1D75770D3847}" type="datetimeFigureOut">
              <a:rPr lang="es-EC" smtClean="0"/>
              <a:t>23/12/2025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4DB5E8AC-2BA5-4C38-B35D-70873BC77CA2}" type="slidenum">
              <a:rPr lang="es-EC" smtClean="0"/>
              <a:t>‹Nº›</a:t>
            </a:fld>
            <a:endParaRPr lang="es-EC"/>
          </a:p>
        </p:txBody>
      </p:sp>
    </p:spTree>
    <p:extLst>
      <p:ext uri="{BB962C8B-B14F-4D97-AF65-F5344CB8AC3E}">
        <p14:creationId xmlns:p14="http://schemas.microsoft.com/office/powerpoint/2010/main" val="776579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0710F538-1827-4CB2-A88A-1D75770D3847}" type="datetimeFigureOut">
              <a:rPr lang="es-EC" smtClean="0"/>
              <a:t>23/12/2025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4DB5E8AC-2BA5-4C38-B35D-70873BC77CA2}" type="slidenum">
              <a:rPr lang="es-EC" smtClean="0"/>
              <a:t>‹Nº›</a:t>
            </a:fld>
            <a:endParaRPr lang="es-EC"/>
          </a:p>
        </p:txBody>
      </p:sp>
    </p:spTree>
    <p:extLst>
      <p:ext uri="{BB962C8B-B14F-4D97-AF65-F5344CB8AC3E}">
        <p14:creationId xmlns:p14="http://schemas.microsoft.com/office/powerpoint/2010/main" val="2703349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0710F538-1827-4CB2-A88A-1D75770D3847}" type="datetimeFigureOut">
              <a:rPr lang="es-EC" smtClean="0"/>
              <a:t>23/12/2025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4DB5E8AC-2BA5-4C38-B35D-70873BC77CA2}" type="slidenum">
              <a:rPr lang="es-EC" smtClean="0"/>
              <a:t>‹Nº›</a:t>
            </a:fld>
            <a:endParaRPr lang="es-EC"/>
          </a:p>
        </p:txBody>
      </p:sp>
    </p:spTree>
    <p:extLst>
      <p:ext uri="{BB962C8B-B14F-4D97-AF65-F5344CB8AC3E}">
        <p14:creationId xmlns:p14="http://schemas.microsoft.com/office/powerpoint/2010/main" val="3919033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0710F538-1827-4CB2-A88A-1D75770D3847}" type="datetimeFigureOut">
              <a:rPr lang="es-EC" smtClean="0"/>
              <a:t>23/12/2025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4DB5E8AC-2BA5-4C38-B35D-70873BC77CA2}" type="slidenum">
              <a:rPr lang="es-EC" smtClean="0"/>
              <a:t>‹Nº›</a:t>
            </a:fld>
            <a:endParaRPr lang="es-EC"/>
          </a:p>
        </p:txBody>
      </p:sp>
    </p:spTree>
    <p:extLst>
      <p:ext uri="{BB962C8B-B14F-4D97-AF65-F5344CB8AC3E}">
        <p14:creationId xmlns:p14="http://schemas.microsoft.com/office/powerpoint/2010/main" val="1496340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0710F538-1827-4CB2-A88A-1D75770D3847}" type="datetimeFigureOut">
              <a:rPr lang="es-EC" smtClean="0"/>
              <a:t>23/12/2025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4DB5E8AC-2BA5-4C38-B35D-70873BC77CA2}" type="slidenum">
              <a:rPr lang="es-EC" smtClean="0"/>
              <a:t>‹Nº›</a:t>
            </a:fld>
            <a:endParaRPr lang="es-EC"/>
          </a:p>
        </p:txBody>
      </p:sp>
    </p:spTree>
    <p:extLst>
      <p:ext uri="{BB962C8B-B14F-4D97-AF65-F5344CB8AC3E}">
        <p14:creationId xmlns:p14="http://schemas.microsoft.com/office/powerpoint/2010/main" val="2172437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0710F538-1827-4CB2-A88A-1D75770D3847}" type="datetimeFigureOut">
              <a:rPr lang="es-EC" smtClean="0"/>
              <a:t>23/12/2025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4DB5E8AC-2BA5-4C38-B35D-70873BC77CA2}" type="slidenum">
              <a:rPr lang="es-EC" smtClean="0"/>
              <a:t>‹Nº›</a:t>
            </a:fld>
            <a:endParaRPr lang="es-EC"/>
          </a:p>
        </p:txBody>
      </p:sp>
    </p:spTree>
    <p:extLst>
      <p:ext uri="{BB962C8B-B14F-4D97-AF65-F5344CB8AC3E}">
        <p14:creationId xmlns:p14="http://schemas.microsoft.com/office/powerpoint/2010/main" val="558601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10F538-1827-4CB2-A88A-1D75770D3847}" type="datetimeFigureOut">
              <a:rPr lang="es-EC" smtClean="0"/>
              <a:t>23/12/2025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4DB5E8AC-2BA5-4C38-B35D-70873BC77CA2}" type="slidenum">
              <a:rPr lang="es-EC" smtClean="0"/>
              <a:t>‹Nº›</a:t>
            </a:fld>
            <a:endParaRPr lang="es-EC"/>
          </a:p>
        </p:txBody>
      </p:sp>
    </p:spTree>
    <p:extLst>
      <p:ext uri="{BB962C8B-B14F-4D97-AF65-F5344CB8AC3E}">
        <p14:creationId xmlns:p14="http://schemas.microsoft.com/office/powerpoint/2010/main" val="2395656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MX"/>
              <a:t>Haz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0710F538-1827-4CB2-A88A-1D75770D3847}" type="datetimeFigureOut">
              <a:rPr lang="es-EC" smtClean="0"/>
              <a:t>23/12/2025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4DB5E8AC-2BA5-4C38-B35D-70873BC77CA2}" type="slidenum">
              <a:rPr lang="es-EC" smtClean="0"/>
              <a:t>‹Nº›</a:t>
            </a:fld>
            <a:endParaRPr lang="es-EC"/>
          </a:p>
        </p:txBody>
      </p:sp>
    </p:spTree>
    <p:extLst>
      <p:ext uri="{BB962C8B-B14F-4D97-AF65-F5344CB8AC3E}">
        <p14:creationId xmlns:p14="http://schemas.microsoft.com/office/powerpoint/2010/main" val="2991201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0710F538-1827-4CB2-A88A-1D75770D3847}" type="datetimeFigureOut">
              <a:rPr lang="es-EC" smtClean="0"/>
              <a:t>23/12/2025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4DB5E8AC-2BA5-4C38-B35D-70873BC77CA2}" type="slidenum">
              <a:rPr lang="es-EC" smtClean="0"/>
              <a:t>‹Nº›</a:t>
            </a:fld>
            <a:endParaRPr lang="es-EC"/>
          </a:p>
        </p:txBody>
      </p:sp>
    </p:spTree>
    <p:extLst>
      <p:ext uri="{BB962C8B-B14F-4D97-AF65-F5344CB8AC3E}">
        <p14:creationId xmlns:p14="http://schemas.microsoft.com/office/powerpoint/2010/main" val="3712215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0710F538-1827-4CB2-A88A-1D75770D3847}" type="datetimeFigureOut">
              <a:rPr lang="es-EC" smtClean="0"/>
              <a:t>23/12/2025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4DB5E8AC-2BA5-4C38-B35D-70873BC77CA2}" type="slidenum">
              <a:rPr lang="es-EC" smtClean="0"/>
              <a:t>‹Nº›</a:t>
            </a:fld>
            <a:endParaRPr lang="es-EC"/>
          </a:p>
        </p:txBody>
      </p:sp>
    </p:spTree>
    <p:extLst>
      <p:ext uri="{BB962C8B-B14F-4D97-AF65-F5344CB8AC3E}">
        <p14:creationId xmlns:p14="http://schemas.microsoft.com/office/powerpoint/2010/main" val="29365199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MX"/>
              <a:t>Haz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MX"/>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0710F538-1827-4CB2-A88A-1D75770D3847}" type="datetimeFigureOut">
              <a:rPr lang="es-EC" smtClean="0"/>
              <a:t>23/12/2025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4DB5E8AC-2BA5-4C38-B35D-70873BC77CA2}" type="slidenum">
              <a:rPr lang="es-EC" smtClean="0"/>
              <a:t>‹Nº›</a:t>
            </a:fld>
            <a:endParaRPr lang="es-EC"/>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2378081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0710F538-1827-4CB2-A88A-1D75770D3847}" type="datetimeFigureOut">
              <a:rPr lang="es-EC" smtClean="0"/>
              <a:t>23/12/2025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4DB5E8AC-2BA5-4C38-B35D-70873BC77CA2}" type="slidenum">
              <a:rPr lang="es-EC" smtClean="0"/>
              <a:t>‹Nº›</a:t>
            </a:fld>
            <a:endParaRPr lang="es-EC"/>
          </a:p>
        </p:txBody>
      </p:sp>
    </p:spTree>
    <p:extLst>
      <p:ext uri="{BB962C8B-B14F-4D97-AF65-F5344CB8AC3E}">
        <p14:creationId xmlns:p14="http://schemas.microsoft.com/office/powerpoint/2010/main" val="2561365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MX"/>
              <a:t>Haz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MX"/>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0710F538-1827-4CB2-A88A-1D75770D3847}" type="datetimeFigureOut">
              <a:rPr lang="es-EC" smtClean="0"/>
              <a:t>23/12/2025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4DB5E8AC-2BA5-4C38-B35D-70873BC77CA2}" type="slidenum">
              <a:rPr lang="es-EC" smtClean="0"/>
              <a:t>‹Nº›</a:t>
            </a:fld>
            <a:endParaRPr lang="es-EC"/>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862450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MX"/>
              <a:t>Haz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MX"/>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0710F538-1827-4CB2-A88A-1D75770D3847}" type="datetimeFigureOut">
              <a:rPr lang="es-EC" smtClean="0"/>
              <a:t>23/12/2025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4DB5E8AC-2BA5-4C38-B35D-70873BC77CA2}" type="slidenum">
              <a:rPr lang="es-EC" smtClean="0"/>
              <a:t>‹Nº›</a:t>
            </a:fld>
            <a:endParaRPr lang="es-EC"/>
          </a:p>
        </p:txBody>
      </p:sp>
    </p:spTree>
    <p:extLst>
      <p:ext uri="{BB962C8B-B14F-4D97-AF65-F5344CB8AC3E}">
        <p14:creationId xmlns:p14="http://schemas.microsoft.com/office/powerpoint/2010/main" val="551273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0710F538-1827-4CB2-A88A-1D75770D3847}" type="datetimeFigureOut">
              <a:rPr lang="es-EC" smtClean="0"/>
              <a:t>23/12/2025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4DB5E8AC-2BA5-4C38-B35D-70873BC77CA2}" type="slidenum">
              <a:rPr lang="es-EC" smtClean="0"/>
              <a:t>‹Nº›</a:t>
            </a:fld>
            <a:endParaRPr lang="es-EC"/>
          </a:p>
        </p:txBody>
      </p:sp>
    </p:spTree>
    <p:extLst>
      <p:ext uri="{BB962C8B-B14F-4D97-AF65-F5344CB8AC3E}">
        <p14:creationId xmlns:p14="http://schemas.microsoft.com/office/powerpoint/2010/main" val="41581251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0710F538-1827-4CB2-A88A-1D75770D3847}" type="datetimeFigureOut">
              <a:rPr lang="es-EC" smtClean="0"/>
              <a:t>23/12/2025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4DB5E8AC-2BA5-4C38-B35D-70873BC77CA2}" type="slidenum">
              <a:rPr lang="es-EC" smtClean="0"/>
              <a:t>‹Nº›</a:t>
            </a:fld>
            <a:endParaRPr lang="es-EC"/>
          </a:p>
        </p:txBody>
      </p:sp>
    </p:spTree>
    <p:extLst>
      <p:ext uri="{BB962C8B-B14F-4D97-AF65-F5344CB8AC3E}">
        <p14:creationId xmlns:p14="http://schemas.microsoft.com/office/powerpoint/2010/main" val="1003421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710F538-1827-4CB2-A88A-1D75770D3847}" type="datetimeFigureOut">
              <a:rPr lang="es-EC" smtClean="0"/>
              <a:t>23/12/2025</a:t>
            </a:fld>
            <a:endParaRPr lang="es-EC"/>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EC"/>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DB5E8AC-2BA5-4C38-B35D-70873BC77CA2}" type="slidenum">
              <a:rPr lang="es-EC" smtClean="0"/>
              <a:t>‹Nº›</a:t>
            </a:fld>
            <a:endParaRPr lang="es-EC"/>
          </a:p>
        </p:txBody>
      </p:sp>
    </p:spTree>
    <p:extLst>
      <p:ext uri="{BB962C8B-B14F-4D97-AF65-F5344CB8AC3E}">
        <p14:creationId xmlns:p14="http://schemas.microsoft.com/office/powerpoint/2010/main" val="33129955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4EECA3-11C9-4A22-B6C9-28BD194D561A}"/>
              </a:ext>
            </a:extLst>
          </p:cNvPr>
          <p:cNvSpPr>
            <a:spLocks noGrp="1"/>
          </p:cNvSpPr>
          <p:nvPr>
            <p:ph type="title"/>
          </p:nvPr>
        </p:nvSpPr>
        <p:spPr>
          <a:xfrm>
            <a:off x="295594" y="881981"/>
            <a:ext cx="7019606" cy="4353018"/>
          </a:xfrm>
        </p:spPr>
        <p:txBody>
          <a:bodyPr>
            <a:normAutofit/>
          </a:bodyPr>
          <a:lstStyle/>
          <a:p>
            <a:r>
              <a:rPr lang="es-MX" sz="6000" dirty="0">
                <a:solidFill>
                  <a:srgbClr val="002060"/>
                </a:solidFill>
              </a:rPr>
              <a:t>Juego Piedra, Papel y Tijera realizado en Python.</a:t>
            </a:r>
            <a:br>
              <a:rPr lang="es-MX" sz="6000" dirty="0">
                <a:solidFill>
                  <a:srgbClr val="002060"/>
                </a:solidFill>
              </a:rPr>
            </a:br>
            <a:r>
              <a:rPr lang="es-MX" sz="6000" dirty="0">
                <a:solidFill>
                  <a:srgbClr val="002060"/>
                </a:solidFill>
              </a:rPr>
              <a:t>Proyecto Integrador</a:t>
            </a:r>
            <a:endParaRPr lang="es-EC" sz="6000" dirty="0">
              <a:solidFill>
                <a:srgbClr val="002060"/>
              </a:solidFill>
            </a:endParaRPr>
          </a:p>
        </p:txBody>
      </p:sp>
      <p:sp>
        <p:nvSpPr>
          <p:cNvPr id="3" name="Marcador de contenido 2">
            <a:extLst>
              <a:ext uri="{FF2B5EF4-FFF2-40B4-BE49-F238E27FC236}">
                <a16:creationId xmlns:a16="http://schemas.microsoft.com/office/drawing/2014/main" id="{10DF6D0E-5F6E-4060-99E1-468D630017EF}"/>
              </a:ext>
            </a:extLst>
          </p:cNvPr>
          <p:cNvSpPr>
            <a:spLocks noGrp="1"/>
          </p:cNvSpPr>
          <p:nvPr>
            <p:ph idx="1"/>
          </p:nvPr>
        </p:nvSpPr>
        <p:spPr>
          <a:xfrm>
            <a:off x="517536" y="5739591"/>
            <a:ext cx="2305563" cy="1017617"/>
          </a:xfrm>
        </p:spPr>
        <p:txBody>
          <a:bodyPr>
            <a:normAutofit fontScale="92500"/>
          </a:bodyPr>
          <a:lstStyle/>
          <a:p>
            <a:pPr marL="0" indent="0">
              <a:buNone/>
            </a:pPr>
            <a:r>
              <a:rPr lang="es-MX" dirty="0">
                <a:latin typeface="Century" panose="02040604050505020304" pitchFamily="18" charset="0"/>
              </a:rPr>
              <a:t>Un juego para el disfrute de todos los que quieran jugarlo.</a:t>
            </a:r>
            <a:endParaRPr lang="es-EC" dirty="0">
              <a:latin typeface="Century" panose="02040604050505020304" pitchFamily="18" charset="0"/>
            </a:endParaRPr>
          </a:p>
        </p:txBody>
      </p:sp>
      <p:pic>
        <p:nvPicPr>
          <p:cNvPr id="13" name="Imagen 12">
            <a:extLst>
              <a:ext uri="{FF2B5EF4-FFF2-40B4-BE49-F238E27FC236}">
                <a16:creationId xmlns:a16="http://schemas.microsoft.com/office/drawing/2014/main" id="{AE85ABC8-16EB-4FF4-8A98-AAEE4829E8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8705" y="3123671"/>
            <a:ext cx="3861959" cy="3633537"/>
          </a:xfrm>
          <a:prstGeom prst="rect">
            <a:avLst/>
          </a:prstGeom>
        </p:spPr>
      </p:pic>
      <p:sp>
        <p:nvSpPr>
          <p:cNvPr id="4" name="CuadroTexto 3">
            <a:extLst>
              <a:ext uri="{FF2B5EF4-FFF2-40B4-BE49-F238E27FC236}">
                <a16:creationId xmlns:a16="http://schemas.microsoft.com/office/drawing/2014/main" id="{9DF79520-56E3-45FD-ABAB-E57CBA69F9C1}"/>
              </a:ext>
            </a:extLst>
          </p:cNvPr>
          <p:cNvSpPr txBox="1"/>
          <p:nvPr/>
        </p:nvSpPr>
        <p:spPr>
          <a:xfrm>
            <a:off x="3570217" y="5375854"/>
            <a:ext cx="2849732" cy="1200329"/>
          </a:xfrm>
          <a:prstGeom prst="rect">
            <a:avLst/>
          </a:prstGeom>
          <a:noFill/>
        </p:spPr>
        <p:txBody>
          <a:bodyPr wrap="square" rtlCol="0">
            <a:spAutoFit/>
          </a:bodyPr>
          <a:lstStyle/>
          <a:p>
            <a:r>
              <a:rPr lang="es-MX" dirty="0"/>
              <a:t>Nombre: Donny Maldonado Ruiz</a:t>
            </a:r>
          </a:p>
          <a:p>
            <a:r>
              <a:rPr lang="es-MX" dirty="0"/>
              <a:t>Materia: Lógica de programación.</a:t>
            </a:r>
            <a:endParaRPr lang="es-EC" dirty="0"/>
          </a:p>
        </p:txBody>
      </p:sp>
    </p:spTree>
    <p:extLst>
      <p:ext uri="{BB962C8B-B14F-4D97-AF65-F5344CB8AC3E}">
        <p14:creationId xmlns:p14="http://schemas.microsoft.com/office/powerpoint/2010/main" val="1938036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0A5263-CDED-4612-B4D0-21BF41757D51}"/>
              </a:ext>
            </a:extLst>
          </p:cNvPr>
          <p:cNvSpPr>
            <a:spLocks noGrp="1"/>
          </p:cNvSpPr>
          <p:nvPr>
            <p:ph type="title"/>
          </p:nvPr>
        </p:nvSpPr>
        <p:spPr/>
        <p:txBody>
          <a:bodyPr/>
          <a:lstStyle/>
          <a:p>
            <a:r>
              <a:rPr lang="es-MX" b="1" dirty="0">
                <a:solidFill>
                  <a:srgbClr val="002060"/>
                </a:solidFill>
              </a:rPr>
              <a:t>Introducción:</a:t>
            </a:r>
            <a:endParaRPr lang="es-EC" dirty="0">
              <a:solidFill>
                <a:srgbClr val="002060"/>
              </a:solidFill>
            </a:endParaRPr>
          </a:p>
        </p:txBody>
      </p:sp>
      <p:sp>
        <p:nvSpPr>
          <p:cNvPr id="3" name="Marcador de contenido 2">
            <a:extLst>
              <a:ext uri="{FF2B5EF4-FFF2-40B4-BE49-F238E27FC236}">
                <a16:creationId xmlns:a16="http://schemas.microsoft.com/office/drawing/2014/main" id="{DF783FA9-48A8-4493-8B53-AE36651432F1}"/>
              </a:ext>
            </a:extLst>
          </p:cNvPr>
          <p:cNvSpPr>
            <a:spLocks noGrp="1"/>
          </p:cNvSpPr>
          <p:nvPr>
            <p:ph idx="1"/>
          </p:nvPr>
        </p:nvSpPr>
        <p:spPr>
          <a:xfrm>
            <a:off x="677334" y="1930401"/>
            <a:ext cx="8596668" cy="4110962"/>
          </a:xfrm>
        </p:spPr>
        <p:txBody>
          <a:bodyPr/>
          <a:lstStyle/>
          <a:p>
            <a:r>
              <a:rPr lang="es-MX" sz="2000" dirty="0"/>
              <a:t>Se verá el problema o la situación que busca atender el proyecto.</a:t>
            </a:r>
          </a:p>
          <a:p>
            <a:r>
              <a:rPr lang="es-MX" sz="2000" dirty="0"/>
              <a:t>Objetivo del proyecto</a:t>
            </a:r>
          </a:p>
          <a:p>
            <a:r>
              <a:rPr lang="es-MX" sz="2000" dirty="0"/>
              <a:t>En esta presentación, voy a mostrar el funcionamiento del juego Piedra, papel, tijera con base al conocimiento que he obtenido durante las 4 unidades de clase.</a:t>
            </a:r>
          </a:p>
          <a:p>
            <a:r>
              <a:rPr lang="es-MX" sz="2000" dirty="0"/>
              <a:t>Se mostrará los diferentes tipos de diagramas que se utilizaron durante el proceso para llegar al juego final.</a:t>
            </a:r>
          </a:p>
          <a:p>
            <a:r>
              <a:rPr lang="es-MX" sz="2000" dirty="0"/>
              <a:t>Sus funcionalidades.</a:t>
            </a:r>
          </a:p>
          <a:p>
            <a:r>
              <a:rPr lang="es-MX" sz="2000" dirty="0"/>
              <a:t>Se va hablar de como se desarrollo el juego al momento de codificarlo en Python</a:t>
            </a:r>
            <a:r>
              <a:rPr lang="es-EC" sz="2000" dirty="0"/>
              <a:t>.</a:t>
            </a:r>
            <a:endParaRPr lang="es-MX" sz="2000" dirty="0"/>
          </a:p>
        </p:txBody>
      </p:sp>
    </p:spTree>
    <p:extLst>
      <p:ext uri="{BB962C8B-B14F-4D97-AF65-F5344CB8AC3E}">
        <p14:creationId xmlns:p14="http://schemas.microsoft.com/office/powerpoint/2010/main" val="811358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0272A9-2649-4DAC-B198-AB5018CFF39B}"/>
              </a:ext>
            </a:extLst>
          </p:cNvPr>
          <p:cNvSpPr>
            <a:spLocks noGrp="1"/>
          </p:cNvSpPr>
          <p:nvPr>
            <p:ph type="title"/>
          </p:nvPr>
        </p:nvSpPr>
        <p:spPr/>
        <p:txBody>
          <a:bodyPr/>
          <a:lstStyle/>
          <a:p>
            <a:r>
              <a:rPr lang="es-MX" dirty="0">
                <a:solidFill>
                  <a:srgbClr val="002060"/>
                </a:solidFill>
              </a:rPr>
              <a:t>Problemática</a:t>
            </a:r>
            <a:endParaRPr lang="es-EC" dirty="0">
              <a:solidFill>
                <a:srgbClr val="002060"/>
              </a:solidFill>
            </a:endParaRPr>
          </a:p>
        </p:txBody>
      </p:sp>
      <p:sp>
        <p:nvSpPr>
          <p:cNvPr id="3" name="Marcador de contenido 2">
            <a:extLst>
              <a:ext uri="{FF2B5EF4-FFF2-40B4-BE49-F238E27FC236}">
                <a16:creationId xmlns:a16="http://schemas.microsoft.com/office/drawing/2014/main" id="{879C2F05-921C-4B3E-8703-75039C38A17C}"/>
              </a:ext>
            </a:extLst>
          </p:cNvPr>
          <p:cNvSpPr>
            <a:spLocks noGrp="1"/>
          </p:cNvSpPr>
          <p:nvPr>
            <p:ph idx="1"/>
          </p:nvPr>
        </p:nvSpPr>
        <p:spPr>
          <a:xfrm>
            <a:off x="748356" y="1574663"/>
            <a:ext cx="8596668" cy="4391131"/>
          </a:xfrm>
        </p:spPr>
        <p:txBody>
          <a:bodyPr/>
          <a:lstStyle/>
          <a:p>
            <a:r>
              <a:rPr lang="es-MX" dirty="0"/>
              <a:t>La no aplicación de los conocimientos de las cuatro unidades pueden impedir el aprendizaje esperado y afectar el correcto desarrollo del proyecto.</a:t>
            </a:r>
          </a:p>
          <a:p>
            <a:r>
              <a:rPr lang="es-MX" dirty="0"/>
              <a:t>Muchos proyectos de programación se limitan a cumplir con el funcionamiento básico.</a:t>
            </a:r>
          </a:p>
          <a:p>
            <a:r>
              <a:rPr lang="es-MX" dirty="0"/>
              <a:t>Al no tratar seriamente al juego.</a:t>
            </a:r>
          </a:p>
        </p:txBody>
      </p:sp>
    </p:spTree>
    <p:extLst>
      <p:ext uri="{BB962C8B-B14F-4D97-AF65-F5344CB8AC3E}">
        <p14:creationId xmlns:p14="http://schemas.microsoft.com/office/powerpoint/2010/main" val="35865458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528792-CDEB-4409-AC58-B043A3E248DC}"/>
              </a:ext>
            </a:extLst>
          </p:cNvPr>
          <p:cNvSpPr>
            <a:spLocks noGrp="1"/>
          </p:cNvSpPr>
          <p:nvPr>
            <p:ph type="title"/>
          </p:nvPr>
        </p:nvSpPr>
        <p:spPr>
          <a:xfrm>
            <a:off x="677334" y="625642"/>
            <a:ext cx="8596668" cy="1320800"/>
          </a:xfrm>
        </p:spPr>
        <p:txBody>
          <a:bodyPr/>
          <a:lstStyle/>
          <a:p>
            <a:r>
              <a:rPr lang="es-MX" dirty="0">
                <a:solidFill>
                  <a:srgbClr val="002060"/>
                </a:solidFill>
              </a:rPr>
              <a:t>Objetivo del Proyecto</a:t>
            </a:r>
            <a:endParaRPr lang="es-EC" dirty="0">
              <a:solidFill>
                <a:srgbClr val="002060"/>
              </a:solidFill>
            </a:endParaRPr>
          </a:p>
        </p:txBody>
      </p:sp>
      <p:sp>
        <p:nvSpPr>
          <p:cNvPr id="3" name="Marcador de contenido 2">
            <a:extLst>
              <a:ext uri="{FF2B5EF4-FFF2-40B4-BE49-F238E27FC236}">
                <a16:creationId xmlns:a16="http://schemas.microsoft.com/office/drawing/2014/main" id="{C9E057F9-E4D2-46F7-A373-F7BED11C732D}"/>
              </a:ext>
            </a:extLst>
          </p:cNvPr>
          <p:cNvSpPr>
            <a:spLocks noGrp="1"/>
          </p:cNvSpPr>
          <p:nvPr>
            <p:ph idx="1"/>
          </p:nvPr>
        </p:nvSpPr>
        <p:spPr>
          <a:xfrm>
            <a:off x="677334" y="1716505"/>
            <a:ext cx="8596668" cy="4324857"/>
          </a:xfrm>
        </p:spPr>
        <p:txBody>
          <a:bodyPr/>
          <a:lstStyle/>
          <a:p>
            <a:r>
              <a:rPr lang="es-MX" dirty="0"/>
              <a:t>Utilizar herramientas de la plataforma y las clases para adquirir conocimientos y aplicarlos al proyecto.</a:t>
            </a:r>
          </a:p>
          <a:p>
            <a:r>
              <a:rPr lang="es-MX" dirty="0"/>
              <a:t>Aplicación de la lógica mediante la creación.</a:t>
            </a:r>
          </a:p>
          <a:p>
            <a:r>
              <a:rPr lang="es-MX" dirty="0"/>
              <a:t>El objetivo del proyecto es traer un juego funcional que permita jugar contra la computadora.</a:t>
            </a:r>
          </a:p>
          <a:p>
            <a:r>
              <a:rPr lang="es-EC" dirty="0"/>
              <a:t>Un menú con diferentes opciones.</a:t>
            </a:r>
          </a:p>
          <a:p>
            <a:r>
              <a:rPr lang="es-EC" dirty="0"/>
              <a:t>Que la computadora seleccione valores aleatorios.</a:t>
            </a:r>
          </a:p>
          <a:p>
            <a:r>
              <a:rPr lang="es-EC" dirty="0"/>
              <a:t>Validación de entradas  del Jugador.</a:t>
            </a:r>
          </a:p>
          <a:p>
            <a:r>
              <a:rPr lang="es-EC" dirty="0"/>
              <a:t>Selección de número de rondas.</a:t>
            </a:r>
          </a:p>
          <a:p>
            <a:r>
              <a:rPr lang="es-EC" dirty="0"/>
              <a:t>Mostrar Puntajes Jugador y Pc.</a:t>
            </a:r>
          </a:p>
        </p:txBody>
      </p:sp>
    </p:spTree>
    <p:extLst>
      <p:ext uri="{BB962C8B-B14F-4D97-AF65-F5344CB8AC3E}">
        <p14:creationId xmlns:p14="http://schemas.microsoft.com/office/powerpoint/2010/main" val="16536772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FF2386-6521-4092-9EFB-600B12DB7536}"/>
              </a:ext>
            </a:extLst>
          </p:cNvPr>
          <p:cNvSpPr>
            <a:spLocks noGrp="1"/>
          </p:cNvSpPr>
          <p:nvPr>
            <p:ph type="title"/>
          </p:nvPr>
        </p:nvSpPr>
        <p:spPr/>
        <p:txBody>
          <a:bodyPr/>
          <a:lstStyle/>
          <a:p>
            <a:r>
              <a:rPr lang="es-MX" dirty="0">
                <a:solidFill>
                  <a:srgbClr val="002060"/>
                </a:solidFill>
              </a:rPr>
              <a:t>Justificación del Proyecto</a:t>
            </a:r>
            <a:endParaRPr lang="es-EC" dirty="0">
              <a:solidFill>
                <a:srgbClr val="002060"/>
              </a:solidFill>
            </a:endParaRPr>
          </a:p>
        </p:txBody>
      </p:sp>
      <p:sp>
        <p:nvSpPr>
          <p:cNvPr id="3" name="Marcador de contenido 2">
            <a:extLst>
              <a:ext uri="{FF2B5EF4-FFF2-40B4-BE49-F238E27FC236}">
                <a16:creationId xmlns:a16="http://schemas.microsoft.com/office/drawing/2014/main" id="{44D7BA40-17C6-4133-A81D-B78CCDDA8B58}"/>
              </a:ext>
            </a:extLst>
          </p:cNvPr>
          <p:cNvSpPr>
            <a:spLocks noGrp="1"/>
          </p:cNvSpPr>
          <p:nvPr>
            <p:ph idx="1"/>
          </p:nvPr>
        </p:nvSpPr>
        <p:spPr/>
        <p:txBody>
          <a:bodyPr/>
          <a:lstStyle/>
          <a:p>
            <a:r>
              <a:rPr lang="es-MX" dirty="0"/>
              <a:t>El proyecto se realizó porque es un juego de comparación que permite comprender cómo funciona la computadora al seleccionar una opción de manera aleatoria.</a:t>
            </a:r>
            <a:endParaRPr lang="es-EC" dirty="0"/>
          </a:p>
          <a:p>
            <a:r>
              <a:rPr lang="es-MX" dirty="0"/>
              <a:t>Consideraré que el juego está a un buen nivel para un estudiante que recién ingresa al mundo del software .</a:t>
            </a:r>
          </a:p>
          <a:p>
            <a:r>
              <a:rPr lang="es-MX" dirty="0"/>
              <a:t>El surgimiento del interés de entender cómo funciona la aleatoriedad dentro de un programa, aprender aplicarlo.</a:t>
            </a:r>
          </a:p>
          <a:p>
            <a:endParaRPr lang="es-MX" dirty="0"/>
          </a:p>
          <a:p>
            <a:endParaRPr lang="es-MX" dirty="0"/>
          </a:p>
        </p:txBody>
      </p:sp>
    </p:spTree>
    <p:extLst>
      <p:ext uri="{BB962C8B-B14F-4D97-AF65-F5344CB8AC3E}">
        <p14:creationId xmlns:p14="http://schemas.microsoft.com/office/powerpoint/2010/main" val="21004690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9BB801-9478-4E02-ADDF-99AB32229E00}"/>
              </a:ext>
            </a:extLst>
          </p:cNvPr>
          <p:cNvSpPr>
            <a:spLocks noGrp="1"/>
          </p:cNvSpPr>
          <p:nvPr>
            <p:ph type="title"/>
          </p:nvPr>
        </p:nvSpPr>
        <p:spPr/>
        <p:txBody>
          <a:bodyPr/>
          <a:lstStyle/>
          <a:p>
            <a:r>
              <a:rPr lang="es-MX" b="1" dirty="0">
                <a:solidFill>
                  <a:srgbClr val="002060"/>
                </a:solidFill>
              </a:rPr>
              <a:t>Como se construyó el juego</a:t>
            </a:r>
            <a:endParaRPr lang="es-EC" dirty="0">
              <a:solidFill>
                <a:srgbClr val="002060"/>
              </a:solidFill>
            </a:endParaRPr>
          </a:p>
        </p:txBody>
      </p:sp>
      <p:sp>
        <p:nvSpPr>
          <p:cNvPr id="3" name="Marcador de contenido 2">
            <a:extLst>
              <a:ext uri="{FF2B5EF4-FFF2-40B4-BE49-F238E27FC236}">
                <a16:creationId xmlns:a16="http://schemas.microsoft.com/office/drawing/2014/main" id="{DBCF2E19-7073-43FA-AE47-F1946FC43327}"/>
              </a:ext>
            </a:extLst>
          </p:cNvPr>
          <p:cNvSpPr>
            <a:spLocks noGrp="1"/>
          </p:cNvSpPr>
          <p:nvPr>
            <p:ph idx="1"/>
          </p:nvPr>
        </p:nvSpPr>
        <p:spPr>
          <a:xfrm>
            <a:off x="677334" y="1562471"/>
            <a:ext cx="8596668" cy="4478892"/>
          </a:xfrm>
        </p:spPr>
        <p:txBody>
          <a:bodyPr/>
          <a:lstStyle/>
          <a:p>
            <a:r>
              <a:rPr lang="es-MX" dirty="0"/>
              <a:t>Antes de desarrollar un juego funcional, fue necesario aprender varios conceptos tanto en las clases impartidas como de manera autónoma. El primer paso fue el diseño del juego, el cual se realizo en el deber autónomo uno.</a:t>
            </a:r>
            <a:endParaRPr lang="es-EC" dirty="0"/>
          </a:p>
        </p:txBody>
      </p:sp>
      <p:pic>
        <p:nvPicPr>
          <p:cNvPr id="5" name="Imagen 4">
            <a:extLst>
              <a:ext uri="{FF2B5EF4-FFF2-40B4-BE49-F238E27FC236}">
                <a16:creationId xmlns:a16="http://schemas.microsoft.com/office/drawing/2014/main" id="{2F333428-A418-4A52-A538-5CB2F67E02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0034" y="2811238"/>
            <a:ext cx="3435928" cy="3545238"/>
          </a:xfrm>
          <a:prstGeom prst="rect">
            <a:avLst/>
          </a:prstGeom>
        </p:spPr>
      </p:pic>
      <p:pic>
        <p:nvPicPr>
          <p:cNvPr id="7" name="Imagen 6">
            <a:extLst>
              <a:ext uri="{FF2B5EF4-FFF2-40B4-BE49-F238E27FC236}">
                <a16:creationId xmlns:a16="http://schemas.microsoft.com/office/drawing/2014/main" id="{77549DB9-2F15-40D6-8874-6370DC41B2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4243" y="2739205"/>
            <a:ext cx="1957792" cy="3689304"/>
          </a:xfrm>
          <a:prstGeom prst="rect">
            <a:avLst/>
          </a:prstGeom>
        </p:spPr>
      </p:pic>
    </p:spTree>
    <p:extLst>
      <p:ext uri="{BB962C8B-B14F-4D97-AF65-F5344CB8AC3E}">
        <p14:creationId xmlns:p14="http://schemas.microsoft.com/office/powerpoint/2010/main" val="36796906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CF2000-3A44-4E96-9217-C9F781742D40}"/>
              </a:ext>
            </a:extLst>
          </p:cNvPr>
          <p:cNvSpPr>
            <a:spLocks noGrp="1"/>
          </p:cNvSpPr>
          <p:nvPr>
            <p:ph type="title"/>
          </p:nvPr>
        </p:nvSpPr>
        <p:spPr/>
        <p:txBody>
          <a:bodyPr/>
          <a:lstStyle/>
          <a:p>
            <a:r>
              <a:rPr lang="es-MX" dirty="0">
                <a:solidFill>
                  <a:srgbClr val="002060"/>
                </a:solidFill>
              </a:rPr>
              <a:t>Como se construyo el código</a:t>
            </a:r>
            <a:endParaRPr lang="es-EC" dirty="0">
              <a:solidFill>
                <a:srgbClr val="002060"/>
              </a:solidFill>
            </a:endParaRPr>
          </a:p>
        </p:txBody>
      </p:sp>
      <p:pic>
        <p:nvPicPr>
          <p:cNvPr id="5" name="Marcador de contenido 4">
            <a:extLst>
              <a:ext uri="{FF2B5EF4-FFF2-40B4-BE49-F238E27FC236}">
                <a16:creationId xmlns:a16="http://schemas.microsoft.com/office/drawing/2014/main" id="{099B80A9-E65F-46D5-A27F-76180F98F1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24012" y="842186"/>
            <a:ext cx="5859263" cy="3492363"/>
          </a:xfrm>
        </p:spPr>
      </p:pic>
      <p:sp>
        <p:nvSpPr>
          <p:cNvPr id="7" name="CuadroTexto 6">
            <a:extLst>
              <a:ext uri="{FF2B5EF4-FFF2-40B4-BE49-F238E27FC236}">
                <a16:creationId xmlns:a16="http://schemas.microsoft.com/office/drawing/2014/main" id="{C575B141-4A26-4FC5-8176-448BD2BCAAB8}"/>
              </a:ext>
            </a:extLst>
          </p:cNvPr>
          <p:cNvSpPr txBox="1"/>
          <p:nvPr/>
        </p:nvSpPr>
        <p:spPr>
          <a:xfrm>
            <a:off x="828001" y="1920108"/>
            <a:ext cx="3790765" cy="1200329"/>
          </a:xfrm>
          <a:prstGeom prst="rect">
            <a:avLst/>
          </a:prstGeom>
          <a:noFill/>
        </p:spPr>
        <p:txBody>
          <a:bodyPr wrap="square" rtlCol="0">
            <a:spAutoFit/>
          </a:bodyPr>
          <a:lstStyle/>
          <a:p>
            <a:r>
              <a:rPr lang="es-MX" dirty="0">
                <a:solidFill>
                  <a:srgbClr val="002060"/>
                </a:solidFill>
              </a:rPr>
              <a:t>Variables</a:t>
            </a:r>
          </a:p>
          <a:p>
            <a:r>
              <a:rPr lang="es-EC" dirty="0"/>
              <a:t>Es un pequeño espacio donde el programa guarda información para usarla después.</a:t>
            </a:r>
          </a:p>
        </p:txBody>
      </p:sp>
      <p:sp>
        <p:nvSpPr>
          <p:cNvPr id="8" name="CuadroTexto 7">
            <a:extLst>
              <a:ext uri="{FF2B5EF4-FFF2-40B4-BE49-F238E27FC236}">
                <a16:creationId xmlns:a16="http://schemas.microsoft.com/office/drawing/2014/main" id="{31DC1743-2820-4196-90A5-0A0775852FA2}"/>
              </a:ext>
            </a:extLst>
          </p:cNvPr>
          <p:cNvSpPr txBox="1"/>
          <p:nvPr/>
        </p:nvSpPr>
        <p:spPr>
          <a:xfrm>
            <a:off x="1685720" y="4429958"/>
            <a:ext cx="3036163" cy="369332"/>
          </a:xfrm>
          <a:prstGeom prst="rect">
            <a:avLst/>
          </a:prstGeom>
          <a:noFill/>
        </p:spPr>
        <p:txBody>
          <a:bodyPr wrap="square" rtlCol="0">
            <a:spAutoFit/>
          </a:bodyPr>
          <a:lstStyle/>
          <a:p>
            <a:endParaRPr lang="es-EC" dirty="0"/>
          </a:p>
        </p:txBody>
      </p:sp>
      <p:sp>
        <p:nvSpPr>
          <p:cNvPr id="12" name="CuadroTexto 11">
            <a:extLst>
              <a:ext uri="{FF2B5EF4-FFF2-40B4-BE49-F238E27FC236}">
                <a16:creationId xmlns:a16="http://schemas.microsoft.com/office/drawing/2014/main" id="{12842A7D-0C0A-4E81-9FD5-280AB61F1D82}"/>
              </a:ext>
            </a:extLst>
          </p:cNvPr>
          <p:cNvSpPr txBox="1"/>
          <p:nvPr/>
        </p:nvSpPr>
        <p:spPr>
          <a:xfrm>
            <a:off x="677334" y="4152959"/>
            <a:ext cx="5284203" cy="923330"/>
          </a:xfrm>
          <a:prstGeom prst="rect">
            <a:avLst/>
          </a:prstGeom>
          <a:noFill/>
        </p:spPr>
        <p:txBody>
          <a:bodyPr wrap="none" rtlCol="0">
            <a:spAutoFit/>
          </a:bodyPr>
          <a:lstStyle/>
          <a:p>
            <a:r>
              <a:rPr lang="es-MX" dirty="0" err="1">
                <a:solidFill>
                  <a:srgbClr val="002060"/>
                </a:solidFill>
              </a:rPr>
              <a:t>Prints</a:t>
            </a:r>
            <a:endParaRPr lang="es-MX" dirty="0">
              <a:solidFill>
                <a:srgbClr val="002060"/>
              </a:solidFill>
            </a:endParaRPr>
          </a:p>
          <a:p>
            <a:r>
              <a:rPr lang="es-MX" dirty="0"/>
              <a:t>Permite imprimir información en pantalla</a:t>
            </a:r>
          </a:p>
          <a:p>
            <a:r>
              <a:rPr lang="es-MX" dirty="0"/>
              <a:t>Para comunicar al usuario mensajes y resultados.</a:t>
            </a:r>
            <a:endParaRPr lang="es-EC" dirty="0"/>
          </a:p>
        </p:txBody>
      </p:sp>
      <p:pic>
        <p:nvPicPr>
          <p:cNvPr id="14" name="Imagen 13">
            <a:extLst>
              <a:ext uri="{FF2B5EF4-FFF2-40B4-BE49-F238E27FC236}">
                <a16:creationId xmlns:a16="http://schemas.microsoft.com/office/drawing/2014/main" id="{94EB73B2-30FE-4EC7-8404-61D2B0F02F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8249" y="3486936"/>
            <a:ext cx="5009966" cy="3492363"/>
          </a:xfrm>
          <a:prstGeom prst="rect">
            <a:avLst/>
          </a:prstGeom>
        </p:spPr>
      </p:pic>
    </p:spTree>
    <p:extLst>
      <p:ext uri="{BB962C8B-B14F-4D97-AF65-F5344CB8AC3E}">
        <p14:creationId xmlns:p14="http://schemas.microsoft.com/office/powerpoint/2010/main" val="8401334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EFFDC17-11AE-458E-A56F-6D045759E9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049" y="2375664"/>
            <a:ext cx="11614951" cy="3619489"/>
          </a:xfrm>
          <a:prstGeom prst="rect">
            <a:avLst/>
          </a:prstGeom>
        </p:spPr>
      </p:pic>
      <p:sp>
        <p:nvSpPr>
          <p:cNvPr id="5" name="CuadroTexto 4">
            <a:extLst>
              <a:ext uri="{FF2B5EF4-FFF2-40B4-BE49-F238E27FC236}">
                <a16:creationId xmlns:a16="http://schemas.microsoft.com/office/drawing/2014/main" id="{5EF1FC8E-B601-4EF5-A324-678C679E4969}"/>
              </a:ext>
            </a:extLst>
          </p:cNvPr>
          <p:cNvSpPr txBox="1"/>
          <p:nvPr/>
        </p:nvSpPr>
        <p:spPr>
          <a:xfrm>
            <a:off x="577049" y="1058156"/>
            <a:ext cx="4434785" cy="1477328"/>
          </a:xfrm>
          <a:prstGeom prst="rect">
            <a:avLst/>
          </a:prstGeom>
          <a:noFill/>
        </p:spPr>
        <p:txBody>
          <a:bodyPr wrap="square" rtlCol="0">
            <a:spAutoFit/>
          </a:bodyPr>
          <a:lstStyle/>
          <a:p>
            <a:r>
              <a:rPr lang="es-MX" dirty="0">
                <a:solidFill>
                  <a:srgbClr val="002060"/>
                </a:solidFill>
              </a:rPr>
              <a:t>Inputs</a:t>
            </a:r>
          </a:p>
          <a:p>
            <a:r>
              <a:rPr lang="es-MX" dirty="0"/>
              <a:t>Es la instrucción que permite al programa recibir datos ingresados por el usuario por teclado para interactuar y controlar la ejecución del programa.</a:t>
            </a:r>
            <a:endParaRPr lang="es-EC" dirty="0"/>
          </a:p>
        </p:txBody>
      </p:sp>
    </p:spTree>
    <p:extLst>
      <p:ext uri="{BB962C8B-B14F-4D97-AF65-F5344CB8AC3E}">
        <p14:creationId xmlns:p14="http://schemas.microsoft.com/office/powerpoint/2010/main" val="25875826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405DBBFF-55D3-4403-A836-18BC3C3DFA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89175" y="1127464"/>
            <a:ext cx="5490548" cy="3881437"/>
          </a:xfrm>
        </p:spPr>
      </p:pic>
      <p:sp>
        <p:nvSpPr>
          <p:cNvPr id="6" name="CuadroTexto 5">
            <a:extLst>
              <a:ext uri="{FF2B5EF4-FFF2-40B4-BE49-F238E27FC236}">
                <a16:creationId xmlns:a16="http://schemas.microsoft.com/office/drawing/2014/main" id="{B5C55390-F2D7-4484-9897-D1CAE2FA0EE6}"/>
              </a:ext>
            </a:extLst>
          </p:cNvPr>
          <p:cNvSpPr txBox="1"/>
          <p:nvPr/>
        </p:nvSpPr>
        <p:spPr>
          <a:xfrm>
            <a:off x="605451" y="1261447"/>
            <a:ext cx="4900474" cy="1477328"/>
          </a:xfrm>
          <a:prstGeom prst="rect">
            <a:avLst/>
          </a:prstGeom>
          <a:noFill/>
        </p:spPr>
        <p:txBody>
          <a:bodyPr wrap="square" rtlCol="0">
            <a:spAutoFit/>
          </a:bodyPr>
          <a:lstStyle/>
          <a:p>
            <a:r>
              <a:rPr lang="es-MX" dirty="0">
                <a:solidFill>
                  <a:srgbClr val="002060"/>
                </a:solidFill>
              </a:rPr>
              <a:t>Condicionales</a:t>
            </a:r>
          </a:p>
          <a:p>
            <a:r>
              <a:rPr lang="es-MX" dirty="0"/>
              <a:t>Son mecanismos que permite que un programa tome decisiones basadas  en si una condición es verdadera o falsa.</a:t>
            </a:r>
          </a:p>
          <a:p>
            <a:endParaRPr lang="es-EC" dirty="0"/>
          </a:p>
        </p:txBody>
      </p:sp>
      <p:sp>
        <p:nvSpPr>
          <p:cNvPr id="7" name="CuadroTexto 6">
            <a:extLst>
              <a:ext uri="{FF2B5EF4-FFF2-40B4-BE49-F238E27FC236}">
                <a16:creationId xmlns:a16="http://schemas.microsoft.com/office/drawing/2014/main" id="{1617B60D-5645-4C30-AD5F-C4B0C2085727}"/>
              </a:ext>
            </a:extLst>
          </p:cNvPr>
          <p:cNvSpPr txBox="1"/>
          <p:nvPr/>
        </p:nvSpPr>
        <p:spPr>
          <a:xfrm>
            <a:off x="605451" y="3565228"/>
            <a:ext cx="5490549" cy="2031325"/>
          </a:xfrm>
          <a:prstGeom prst="rect">
            <a:avLst/>
          </a:prstGeom>
          <a:noFill/>
        </p:spPr>
        <p:txBody>
          <a:bodyPr wrap="square" rtlCol="0">
            <a:spAutoFit/>
          </a:bodyPr>
          <a:lstStyle/>
          <a:p>
            <a:r>
              <a:rPr lang="es-MX" dirty="0">
                <a:solidFill>
                  <a:srgbClr val="002060"/>
                </a:solidFill>
              </a:rPr>
              <a:t>Tienen como sentencia </a:t>
            </a:r>
          </a:p>
          <a:p>
            <a:r>
              <a:rPr lang="es-MX" dirty="0" err="1">
                <a:solidFill>
                  <a:srgbClr val="002060"/>
                </a:solidFill>
              </a:rPr>
              <a:t>If</a:t>
            </a:r>
            <a:r>
              <a:rPr lang="es-MX" dirty="0">
                <a:solidFill>
                  <a:srgbClr val="002060"/>
                </a:solidFill>
              </a:rPr>
              <a:t>: </a:t>
            </a:r>
            <a:r>
              <a:rPr lang="es-MX" dirty="0"/>
              <a:t>Evalúa una condición; si se cumple, ejecuta un bloque de instrucciones.</a:t>
            </a:r>
          </a:p>
          <a:p>
            <a:r>
              <a:rPr lang="es-MX" dirty="0" err="1">
                <a:solidFill>
                  <a:srgbClr val="002060"/>
                </a:solidFill>
              </a:rPr>
              <a:t>elif</a:t>
            </a:r>
            <a:r>
              <a:rPr lang="es-MX" dirty="0">
                <a:solidFill>
                  <a:srgbClr val="002060"/>
                </a:solidFill>
              </a:rPr>
              <a:t>: </a:t>
            </a:r>
            <a:r>
              <a:rPr lang="es-MX" dirty="0"/>
              <a:t>Evalúa otra condición si la anterior no se cumple.</a:t>
            </a:r>
          </a:p>
          <a:p>
            <a:r>
              <a:rPr lang="es-MX" dirty="0" err="1">
                <a:solidFill>
                  <a:srgbClr val="002060"/>
                </a:solidFill>
              </a:rPr>
              <a:t>Else</a:t>
            </a:r>
            <a:r>
              <a:rPr lang="es-MX" dirty="0">
                <a:solidFill>
                  <a:srgbClr val="002060"/>
                </a:solidFill>
              </a:rPr>
              <a:t>: </a:t>
            </a:r>
            <a:r>
              <a:rPr lang="es-MX" dirty="0"/>
              <a:t>Se ejecuta cuando ninguna de las condiciones anteriores se cumple.</a:t>
            </a:r>
            <a:endParaRPr lang="es-EC" dirty="0"/>
          </a:p>
        </p:txBody>
      </p:sp>
    </p:spTree>
    <p:extLst>
      <p:ext uri="{BB962C8B-B14F-4D97-AF65-F5344CB8AC3E}">
        <p14:creationId xmlns:p14="http://schemas.microsoft.com/office/powerpoint/2010/main" val="3361578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88900025-BF56-4757-BFEF-1D77DA6A17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67780" y="2506636"/>
            <a:ext cx="7801119" cy="3377935"/>
          </a:xfrm>
        </p:spPr>
      </p:pic>
      <p:sp>
        <p:nvSpPr>
          <p:cNvPr id="6" name="CuadroTexto 5">
            <a:extLst>
              <a:ext uri="{FF2B5EF4-FFF2-40B4-BE49-F238E27FC236}">
                <a16:creationId xmlns:a16="http://schemas.microsoft.com/office/drawing/2014/main" id="{8D626928-DD8A-47FB-B13E-95CBD12772AD}"/>
              </a:ext>
            </a:extLst>
          </p:cNvPr>
          <p:cNvSpPr txBox="1"/>
          <p:nvPr/>
        </p:nvSpPr>
        <p:spPr>
          <a:xfrm>
            <a:off x="825310" y="713019"/>
            <a:ext cx="5619878" cy="1877437"/>
          </a:xfrm>
          <a:prstGeom prst="rect">
            <a:avLst/>
          </a:prstGeom>
          <a:noFill/>
        </p:spPr>
        <p:txBody>
          <a:bodyPr wrap="square" rtlCol="0">
            <a:spAutoFit/>
          </a:bodyPr>
          <a:lstStyle/>
          <a:p>
            <a:r>
              <a:rPr lang="es-MX" dirty="0">
                <a:solidFill>
                  <a:srgbClr val="002060"/>
                </a:solidFill>
              </a:rPr>
              <a:t>Bucles</a:t>
            </a:r>
          </a:p>
          <a:p>
            <a:r>
              <a:rPr lang="es-MX" sz="2000" dirty="0" err="1"/>
              <a:t>While</a:t>
            </a:r>
            <a:r>
              <a:rPr lang="es-MX" sz="2000" dirty="0"/>
              <a:t>; Son estructuras que permiten repetir una o varias instrucciones mientras se cumpla la condición, manteniendo el programa en ejecución y controlando su flujo.</a:t>
            </a:r>
          </a:p>
          <a:p>
            <a:endParaRPr lang="es-EC" dirty="0"/>
          </a:p>
        </p:txBody>
      </p:sp>
    </p:spTree>
    <p:extLst>
      <p:ext uri="{BB962C8B-B14F-4D97-AF65-F5344CB8AC3E}">
        <p14:creationId xmlns:p14="http://schemas.microsoft.com/office/powerpoint/2010/main" val="38710763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9EEC65DF-1F89-42DF-A93E-829B4B7730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2976563"/>
            <a:ext cx="5618097" cy="3881437"/>
          </a:xfrm>
        </p:spPr>
      </p:pic>
      <p:pic>
        <p:nvPicPr>
          <p:cNvPr id="7" name="Imagen 6">
            <a:extLst>
              <a:ext uri="{FF2B5EF4-FFF2-40B4-BE49-F238E27FC236}">
                <a16:creationId xmlns:a16="http://schemas.microsoft.com/office/drawing/2014/main" id="{9BFEDDFA-D527-481E-B999-20CC1711B4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3762375"/>
          </a:xfrm>
          <a:prstGeom prst="rect">
            <a:avLst/>
          </a:prstGeom>
        </p:spPr>
      </p:pic>
      <p:sp>
        <p:nvSpPr>
          <p:cNvPr id="8" name="CuadroTexto 7">
            <a:extLst>
              <a:ext uri="{FF2B5EF4-FFF2-40B4-BE49-F238E27FC236}">
                <a16:creationId xmlns:a16="http://schemas.microsoft.com/office/drawing/2014/main" id="{50715AF4-4C7F-40D3-BAA7-CBA1A5EEFA91}"/>
              </a:ext>
            </a:extLst>
          </p:cNvPr>
          <p:cNvSpPr txBox="1"/>
          <p:nvPr/>
        </p:nvSpPr>
        <p:spPr>
          <a:xfrm>
            <a:off x="1183845" y="4089508"/>
            <a:ext cx="4321957" cy="2031325"/>
          </a:xfrm>
          <a:prstGeom prst="rect">
            <a:avLst/>
          </a:prstGeom>
          <a:noFill/>
        </p:spPr>
        <p:txBody>
          <a:bodyPr wrap="square" rtlCol="0">
            <a:spAutoFit/>
          </a:bodyPr>
          <a:lstStyle/>
          <a:p>
            <a:r>
              <a:rPr lang="es-MX" dirty="0">
                <a:solidFill>
                  <a:srgbClr val="002060"/>
                </a:solidFill>
              </a:rPr>
              <a:t>Funciones</a:t>
            </a:r>
          </a:p>
          <a:p>
            <a:r>
              <a:rPr lang="es-MX" dirty="0"/>
              <a:t>Son bloques de código que realizan una tarea especifica y se ejecutan cuando son llamadas, permitiendo organizar y reutilizar el programa, gracias a ellas, el código se vuelve más claro, ordenado y mucho más fácil de entender.</a:t>
            </a:r>
            <a:endParaRPr lang="es-EC" dirty="0"/>
          </a:p>
        </p:txBody>
      </p:sp>
    </p:spTree>
    <p:extLst>
      <p:ext uri="{BB962C8B-B14F-4D97-AF65-F5344CB8AC3E}">
        <p14:creationId xmlns:p14="http://schemas.microsoft.com/office/powerpoint/2010/main" val="2185827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4BC6D2-7835-4044-A552-C99EF4EC434D}"/>
              </a:ext>
            </a:extLst>
          </p:cNvPr>
          <p:cNvSpPr>
            <a:spLocks noGrp="1"/>
          </p:cNvSpPr>
          <p:nvPr>
            <p:ph type="title"/>
          </p:nvPr>
        </p:nvSpPr>
        <p:spPr/>
        <p:txBody>
          <a:bodyPr/>
          <a:lstStyle/>
          <a:p>
            <a:r>
              <a:rPr lang="es-MX" dirty="0">
                <a:solidFill>
                  <a:srgbClr val="002060"/>
                </a:solidFill>
              </a:rPr>
              <a:t>Resultados Obtenidos</a:t>
            </a:r>
            <a:endParaRPr lang="es-EC" dirty="0">
              <a:solidFill>
                <a:srgbClr val="002060"/>
              </a:solidFill>
            </a:endParaRPr>
          </a:p>
        </p:txBody>
      </p:sp>
      <p:sp>
        <p:nvSpPr>
          <p:cNvPr id="3" name="Marcador de contenido 2">
            <a:extLst>
              <a:ext uri="{FF2B5EF4-FFF2-40B4-BE49-F238E27FC236}">
                <a16:creationId xmlns:a16="http://schemas.microsoft.com/office/drawing/2014/main" id="{513DC201-830A-41B7-B5AB-D28A330785DB}"/>
              </a:ext>
            </a:extLst>
          </p:cNvPr>
          <p:cNvSpPr>
            <a:spLocks noGrp="1"/>
          </p:cNvSpPr>
          <p:nvPr>
            <p:ph idx="1"/>
          </p:nvPr>
        </p:nvSpPr>
        <p:spPr>
          <a:xfrm>
            <a:off x="677334" y="1668379"/>
            <a:ext cx="8596668" cy="4372983"/>
          </a:xfrm>
        </p:spPr>
        <p:txBody>
          <a:bodyPr/>
          <a:lstStyle/>
          <a:p>
            <a:r>
              <a:rPr lang="es-MX" dirty="0"/>
              <a:t>Validación correcta de la opciones.</a:t>
            </a:r>
          </a:p>
          <a:p>
            <a:r>
              <a:rPr lang="es-MX" dirty="0"/>
              <a:t>Selección aleatoria de la pc .</a:t>
            </a:r>
          </a:p>
          <a:p>
            <a:r>
              <a:rPr lang="es-MX" dirty="0"/>
              <a:t>Funcionamiento correcto del Menú.</a:t>
            </a:r>
          </a:p>
          <a:p>
            <a:r>
              <a:rPr lang="es-MX" dirty="0"/>
              <a:t>Parametrización de Rondas correcta.</a:t>
            </a:r>
          </a:p>
          <a:p>
            <a:r>
              <a:rPr lang="es-MX" dirty="0"/>
              <a:t>Mostrar el Resultado en cada ronda.</a:t>
            </a:r>
          </a:p>
          <a:p>
            <a:endParaRPr lang="es-EC" dirty="0"/>
          </a:p>
        </p:txBody>
      </p:sp>
    </p:spTree>
    <p:extLst>
      <p:ext uri="{BB962C8B-B14F-4D97-AF65-F5344CB8AC3E}">
        <p14:creationId xmlns:p14="http://schemas.microsoft.com/office/powerpoint/2010/main" val="8112506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BAE26F-8196-45F5-BE3E-4EB09EE67FD7}"/>
              </a:ext>
            </a:extLst>
          </p:cNvPr>
          <p:cNvSpPr>
            <a:spLocks noGrp="1"/>
          </p:cNvSpPr>
          <p:nvPr>
            <p:ph type="title"/>
          </p:nvPr>
        </p:nvSpPr>
        <p:spPr/>
        <p:txBody>
          <a:bodyPr/>
          <a:lstStyle/>
          <a:p>
            <a:r>
              <a:rPr lang="es-MX" dirty="0">
                <a:solidFill>
                  <a:srgbClr val="002060"/>
                </a:solidFill>
              </a:rPr>
              <a:t>Mejoras a Futuro</a:t>
            </a:r>
            <a:endParaRPr lang="es-EC" dirty="0">
              <a:solidFill>
                <a:srgbClr val="002060"/>
              </a:solidFill>
            </a:endParaRPr>
          </a:p>
        </p:txBody>
      </p:sp>
      <p:sp>
        <p:nvSpPr>
          <p:cNvPr id="3" name="Marcador de contenido 2">
            <a:extLst>
              <a:ext uri="{FF2B5EF4-FFF2-40B4-BE49-F238E27FC236}">
                <a16:creationId xmlns:a16="http://schemas.microsoft.com/office/drawing/2014/main" id="{00D5A9A7-8E03-44C1-AFA7-A2EC48DCD8D9}"/>
              </a:ext>
            </a:extLst>
          </p:cNvPr>
          <p:cNvSpPr>
            <a:spLocks noGrp="1"/>
          </p:cNvSpPr>
          <p:nvPr>
            <p:ph idx="1"/>
          </p:nvPr>
        </p:nvSpPr>
        <p:spPr/>
        <p:txBody>
          <a:bodyPr/>
          <a:lstStyle/>
          <a:p>
            <a:r>
              <a:rPr lang="es-MX" dirty="0"/>
              <a:t>Graficarlo</a:t>
            </a:r>
          </a:p>
          <a:p>
            <a:r>
              <a:rPr lang="es-MX" dirty="0"/>
              <a:t>Implementación de más opciones.</a:t>
            </a:r>
          </a:p>
          <a:p>
            <a:r>
              <a:rPr lang="es-MX" dirty="0"/>
              <a:t>Poder jugar  j vs j</a:t>
            </a:r>
          </a:p>
          <a:p>
            <a:r>
              <a:rPr lang="es-MX" dirty="0"/>
              <a:t>Poner el nombre del jugador.</a:t>
            </a:r>
          </a:p>
          <a:p>
            <a:r>
              <a:rPr lang="es-EC" dirty="0"/>
              <a:t>Hacerlo online</a:t>
            </a:r>
          </a:p>
          <a:p>
            <a:endParaRPr lang="es-MX" dirty="0"/>
          </a:p>
        </p:txBody>
      </p:sp>
    </p:spTree>
    <p:extLst>
      <p:ext uri="{BB962C8B-B14F-4D97-AF65-F5344CB8AC3E}">
        <p14:creationId xmlns:p14="http://schemas.microsoft.com/office/powerpoint/2010/main" val="37758052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D8E847-58B1-4D71-8040-824A60FD27AA}"/>
              </a:ext>
            </a:extLst>
          </p:cNvPr>
          <p:cNvSpPr>
            <a:spLocks noGrp="1"/>
          </p:cNvSpPr>
          <p:nvPr>
            <p:ph type="title"/>
          </p:nvPr>
        </p:nvSpPr>
        <p:spPr/>
        <p:txBody>
          <a:bodyPr/>
          <a:lstStyle/>
          <a:p>
            <a:r>
              <a:rPr lang="es-MX" dirty="0">
                <a:solidFill>
                  <a:srgbClr val="002060"/>
                </a:solidFill>
              </a:rPr>
              <a:t>Conclusión </a:t>
            </a:r>
            <a:endParaRPr lang="es-EC" dirty="0">
              <a:solidFill>
                <a:srgbClr val="002060"/>
              </a:solidFill>
            </a:endParaRPr>
          </a:p>
        </p:txBody>
      </p:sp>
      <p:sp>
        <p:nvSpPr>
          <p:cNvPr id="3" name="Marcador de contenido 2">
            <a:extLst>
              <a:ext uri="{FF2B5EF4-FFF2-40B4-BE49-F238E27FC236}">
                <a16:creationId xmlns:a16="http://schemas.microsoft.com/office/drawing/2014/main" id="{7699797C-2D02-4F88-9522-79A060ED2B0E}"/>
              </a:ext>
            </a:extLst>
          </p:cNvPr>
          <p:cNvSpPr>
            <a:spLocks noGrp="1"/>
          </p:cNvSpPr>
          <p:nvPr>
            <p:ph idx="1"/>
          </p:nvPr>
        </p:nvSpPr>
        <p:spPr/>
        <p:txBody>
          <a:bodyPr/>
          <a:lstStyle/>
          <a:p>
            <a:r>
              <a:rPr lang="es-MX" dirty="0"/>
              <a:t>Este proyecto me ayudó a entender mejor como funciona la lógica de programación, aplicando condicionales, bucles y funciones en un juego que considero nivel medio. Al realizar el proyecto, uno se da cuenta de que gracias a la programación se pueden hacer muchas cosas y que el desarrollo del juego no se sintió como un trabajo de tarea, sino como una experiencia cercana al mundo laborar, ya que el uso de </a:t>
            </a:r>
            <a:r>
              <a:rPr lang="es-MX" dirty="0" err="1"/>
              <a:t>Github</a:t>
            </a:r>
            <a:r>
              <a:rPr lang="es-MX" dirty="0"/>
              <a:t> simula como si fue un proyecto real.</a:t>
            </a:r>
            <a:endParaRPr lang="es-EC" dirty="0"/>
          </a:p>
        </p:txBody>
      </p:sp>
    </p:spTree>
    <p:extLst>
      <p:ext uri="{BB962C8B-B14F-4D97-AF65-F5344CB8AC3E}">
        <p14:creationId xmlns:p14="http://schemas.microsoft.com/office/powerpoint/2010/main" val="26966436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1741</TotalTime>
  <Words>685</Words>
  <Application>Microsoft Office PowerPoint</Application>
  <PresentationFormat>Panorámica</PresentationFormat>
  <Paragraphs>62</Paragraphs>
  <Slides>14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Arial</vt:lpstr>
      <vt:lpstr>Century</vt:lpstr>
      <vt:lpstr>Trebuchet MS</vt:lpstr>
      <vt:lpstr>Wingdings 3</vt:lpstr>
      <vt:lpstr>Faceta</vt:lpstr>
      <vt:lpstr>Juego Piedra, Papel y Tijera realizado en Python. Proyecto Integrador</vt:lpstr>
      <vt:lpstr>Introducción:</vt:lpstr>
      <vt:lpstr>Problemática</vt:lpstr>
      <vt:lpstr>Objetivo del Proyecto</vt:lpstr>
      <vt:lpstr>Justificación del Proyecto</vt:lpstr>
      <vt:lpstr>Como se construyó el juego</vt:lpstr>
      <vt:lpstr>Como se construyo el código</vt:lpstr>
      <vt:lpstr>Presentación de PowerPoint</vt:lpstr>
      <vt:lpstr>Presentación de PowerPoint</vt:lpstr>
      <vt:lpstr>Presentación de PowerPoint</vt:lpstr>
      <vt:lpstr>Presentación de PowerPoint</vt:lpstr>
      <vt:lpstr>Resultados Obtenidos</vt:lpstr>
      <vt:lpstr>Mejoras a Futuro</vt:lpstr>
      <vt:lpstr>Conclusión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dc:creator>
  <cp:lastModifiedBy>Donny Maldonado Ruiz</cp:lastModifiedBy>
  <cp:revision>64</cp:revision>
  <dcterms:created xsi:type="dcterms:W3CDTF">2025-12-16T08:09:04Z</dcterms:created>
  <dcterms:modified xsi:type="dcterms:W3CDTF">2025-12-24T04:47:44Z</dcterms:modified>
</cp:coreProperties>
</file>